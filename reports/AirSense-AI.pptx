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embeddedFontLst>
    <p:embeddedFont>
      <p:font typeface="Instrument Sans" panose="020B0604020202020204" charset="0"/>
      <p:regular r:id="rId15"/>
      <p:bold r:id="rId16"/>
      <p:italic r:id="rId17"/>
      <p:boldItalic r:id="rId18"/>
    </p:embeddedFont>
    <p:embeddedFont>
      <p:font typeface="Instrument Sans Medium" panose="020B060402020202020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67AA3-7679-40F2-A9D1-D7663101FC22}" v="143" dt="2026-07-26T10:56:32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F0B94C47-A8DF-BFE1-9B55-663A88C0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>
            <a:extLst>
              <a:ext uri="{FF2B5EF4-FFF2-40B4-BE49-F238E27FC236}">
                <a16:creationId xmlns:a16="http://schemas.microsoft.com/office/drawing/2014/main" id="{3EE3A471-B325-57D0-8F4F-29F98BDE7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0:notes">
            <a:extLst>
              <a:ext uri="{FF2B5EF4-FFF2-40B4-BE49-F238E27FC236}">
                <a16:creationId xmlns:a16="http://schemas.microsoft.com/office/drawing/2014/main" id="{878B9ECD-E7B3-1D81-E8FC-16BBBD1DA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>
            <a:extLst>
              <a:ext uri="{FF2B5EF4-FFF2-40B4-BE49-F238E27FC236}">
                <a16:creationId xmlns:a16="http://schemas.microsoft.com/office/drawing/2014/main" id="{F830EB04-BA12-155C-F2B2-6AAC83F05B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3980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915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1"/>
            <a:ext cx="9144000" cy="104012"/>
          </a:xfrm>
          <a:prstGeom prst="rect">
            <a:avLst/>
          </a:prstGeom>
          <a:solidFill>
            <a:srgbClr val="C8960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13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842020"/>
              </p:ext>
            </p:extLst>
          </p:nvPr>
        </p:nvGraphicFramePr>
        <p:xfrm>
          <a:off x="0" y="99441"/>
          <a:ext cx="9144001" cy="5058506"/>
        </p:xfrm>
        <a:graphic>
          <a:graphicData uri="http://schemas.openxmlformats.org/drawingml/2006/table">
            <a:tbl>
              <a:tblPr/>
              <a:tblGrid>
                <a:gridCol w="2486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5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9543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745" algn="l" rtl="0" eaLnBrk="0">
                        <a:lnSpc>
                          <a:spcPct val="86000"/>
                        </a:lnSpc>
                      </a:pPr>
                      <a:r>
                        <a:rPr lang="en-US" sz="2700" b="1" kern="0" spc="-1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AirSense-AI</a:t>
                      </a:r>
                      <a:endParaRPr lang="en-US" sz="2700" b="1" kern="0" spc="-1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927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8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162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Indian</a:t>
                      </a:r>
                      <a:r>
                        <a:rPr sz="10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Institute</a:t>
                      </a:r>
                      <a:r>
                        <a:rPr sz="10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10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Technology</a:t>
                      </a:r>
                      <a:r>
                        <a:rPr sz="10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000" b="1" kern="0" spc="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Guwahati</a:t>
                      </a:r>
                      <a:endParaRPr sz="10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2560" algn="l" rtl="0" eaLnBrk="0">
                        <a:lnSpc>
                          <a:spcPct val="83000"/>
                        </a:lnSpc>
                        <a:spcBef>
                          <a:spcPts val="369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BSc.</a:t>
                      </a:r>
                      <a:r>
                        <a:rPr sz="900" kern="0" spc="8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(Hons.)</a:t>
                      </a:r>
                      <a:r>
                        <a:rPr sz="900" kern="0" spc="9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Data Science &amp; Artificial</a:t>
                      </a:r>
                      <a:r>
                        <a:rPr sz="900" kern="0" spc="9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Intelligenc</a:t>
                      </a:r>
                      <a:r>
                        <a:rPr sz="900" kern="0" spc="-2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endParaRPr sz="9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835025" algn="l" rtl="0" eaLnBrk="0">
                        <a:lnSpc>
                          <a:spcPct val="83000"/>
                        </a:lnSpc>
                        <a:spcBef>
                          <a:spcPts val="245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Online</a:t>
                      </a:r>
                      <a:r>
                        <a:rPr sz="900" kern="0" spc="16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Degree</a:t>
                      </a:r>
                      <a:r>
                        <a:rPr sz="900" kern="0" spc="8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900" kern="0" spc="-2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Programme</a:t>
                      </a:r>
                      <a:endParaRPr sz="9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5136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5775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Student</a:t>
                      </a:r>
                      <a:r>
                        <a:rPr sz="1400" b="1" kern="0" spc="1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r>
                        <a:rPr sz="1400" b="1" kern="0" spc="1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85775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Student</a:t>
                      </a:r>
                      <a:r>
                        <a:rPr sz="1400" b="1" kern="0" spc="9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  <a:r>
                        <a:rPr sz="1400" b="1" kern="0" spc="1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9403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sz="1400" b="1" kern="0" spc="-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Email</a:t>
                      </a:r>
                      <a:r>
                        <a:rPr sz="1400" b="1" kern="0" spc="15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  <a:r>
                        <a:rPr sz="1400" b="1" kern="0" spc="1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9403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sz="1400" b="1" kern="0" spc="-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Programme</a:t>
                      </a:r>
                      <a:r>
                        <a:rPr sz="1400" b="1" kern="0" spc="19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8768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Course Cod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r>
                        <a:rPr sz="1400" b="1" kern="0" spc="1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87680" algn="l" rtl="0" eaLnBrk="0">
                        <a:lnSpc>
                          <a:spcPct val="83000"/>
                        </a:lnSpc>
                        <a:spcBef>
                          <a:spcPts val="1287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Course</a:t>
                      </a:r>
                      <a:r>
                        <a:rPr sz="1400" b="1" kern="0" spc="9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Nam</a:t>
                      </a:r>
                      <a:r>
                        <a:rPr sz="1400" b="1" kern="0" spc="-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</a:t>
                      </a:r>
                      <a:r>
                        <a:rPr sz="1400" b="1" kern="0" spc="1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3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060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Trimester</a:t>
                      </a:r>
                      <a:r>
                        <a:rPr sz="1400" b="1" kern="0" spc="14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C8960C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1010" algn="l" rtl="0" eaLnBrk="0">
                        <a:lnSpc>
                          <a:spcPct val="83000"/>
                        </a:lnSpc>
                        <a:spcBef>
                          <a:spcPts val="6"/>
                        </a:spcBef>
                      </a:pPr>
                      <a:r>
                        <a:rPr lang="en-US" sz="1400" kern="0" spc="-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Anirudh S</a:t>
                      </a:r>
                      <a:endParaRPr sz="14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6101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lang="en-US" sz="1400" kern="0" spc="-3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23035010660</a:t>
                      </a:r>
                      <a:endParaRPr sz="14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6101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  <a:tabLst/>
                      </a:pPr>
                      <a:r>
                        <a:rPr lang="en-US" sz="1400" kern="0" spc="-3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anirudh.s@op.iitg.ac.in</a:t>
                      </a:r>
                      <a:endParaRPr lang="en-US" sz="1400" kern="0" spc="-4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59740" algn="l" rtl="0" eaLnBrk="0">
                        <a:lnSpc>
                          <a:spcPct val="83000"/>
                        </a:lnSpc>
                        <a:spcBef>
                          <a:spcPts val="1286"/>
                        </a:spcBef>
                      </a:pPr>
                      <a:r>
                        <a:rPr sz="1400" kern="0" spc="-2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BSc.</a:t>
                      </a:r>
                      <a:r>
                        <a:rPr sz="1400" kern="0" spc="15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kern="0" spc="-2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(Hons.)</a:t>
                      </a:r>
                      <a:r>
                        <a:rPr sz="1400" kern="0" spc="17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400" kern="0" spc="-2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Data Science &amp; AI</a:t>
                      </a:r>
                      <a:endParaRPr lang="en-US" sz="1400" kern="0" spc="-2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61010" lvl="0" algn="l" rtl="0">
                        <a:lnSpc>
                          <a:spcPts val="3078"/>
                        </a:lnSpc>
                        <a:buNone/>
                      </a:pPr>
                      <a:r>
                        <a:rPr lang="en-US" sz="1400" kern="0" spc="-3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 379</a:t>
                      </a:r>
                    </a:p>
                    <a:p>
                      <a:pPr marL="461010" lvl="0" algn="l" rtl="0">
                        <a:lnSpc>
                          <a:spcPct val="83000"/>
                        </a:lnSpc>
                        <a:spcBef>
                          <a:spcPts val="1287"/>
                        </a:spcBef>
                        <a:buNone/>
                        <a:tabLst/>
                      </a:pPr>
                      <a:r>
                        <a:rPr lang="en-US" sz="1400" kern="0" spc="-2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Term Project-3</a:t>
                      </a: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sz="800" dirty="0">
                        <a:latin typeface="Arial"/>
                        <a:ea typeface="Calibri"/>
                        <a:cs typeface="Arial"/>
                      </a:endParaRPr>
                    </a:p>
                    <a:p>
                      <a:pPr marL="461010" lvl="0" algn="l" rtl="0">
                        <a:lnSpc>
                          <a:spcPct val="83000"/>
                        </a:lnSpc>
                        <a:spcBef>
                          <a:spcPts val="2"/>
                        </a:spcBef>
                        <a:buNone/>
                        <a:tabLst/>
                      </a:pPr>
                      <a:r>
                        <a:rPr lang="en-US" sz="1400" kern="0" spc="-2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IX</a:t>
                      </a:r>
                      <a:endParaRPr lang="en-US" sz="1400" kern="0" spc="-20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33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586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9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9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19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95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" y="328041"/>
            <a:ext cx="2276856" cy="2235708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737485" y="309752"/>
          <a:ext cx="2295049" cy="349091"/>
        </p:xfrm>
        <a:graphic>
          <a:graphicData uri="http://schemas.openxmlformats.org/drawingml/2006/table">
            <a:tbl>
              <a:tblPr>
                <a:solidFill>
                  <a:srgbClr val="C8960C"/>
                </a:solidFill>
              </a:tblPr>
              <a:tblGrid>
                <a:gridCol w="2295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9091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31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1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INTERNSHIP/TERM</a:t>
                      </a:r>
                      <a:r>
                        <a:rPr sz="1100" b="1" kern="0" spc="17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100" b="1" kern="0" spc="30" dirty="0">
                          <a:solidFill>
                            <a:srgbClr val="0033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PROJECT</a:t>
                      </a:r>
                      <a:endParaRPr sz="1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96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6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273177" y="3384424"/>
            <a:ext cx="2007108" cy="45719"/>
            <a:chOff x="0" y="0"/>
            <a:chExt cx="2676144" cy="60959"/>
          </a:xfrm>
        </p:grpSpPr>
        <p:sp>
          <p:nvSpPr>
            <p:cNvPr id="10" name="path 10"/>
            <p:cNvSpPr/>
            <p:nvPr/>
          </p:nvSpPr>
          <p:spPr>
            <a:xfrm>
              <a:off x="6095" y="6095"/>
              <a:ext cx="2663952" cy="48767"/>
            </a:xfrm>
            <a:custGeom>
              <a:avLst/>
              <a:gdLst/>
              <a:ahLst/>
              <a:cxnLst/>
              <a:rect l="0" t="0" r="0" b="0"/>
              <a:pathLst>
                <a:path w="4195" h="76">
                  <a:moveTo>
                    <a:pt x="0" y="76"/>
                  </a:moveTo>
                  <a:lnTo>
                    <a:pt x="4195" y="76"/>
                  </a:lnTo>
                  <a:lnTo>
                    <a:pt x="4195" y="0"/>
                  </a:lnTo>
                  <a:lnTo>
                    <a:pt x="0" y="0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C8960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13"/>
            </a:p>
          </p:txBody>
        </p:sp>
        <p:sp>
          <p:nvSpPr>
            <p:cNvPr id="12" name="path 12"/>
            <p:cNvSpPr/>
            <p:nvPr/>
          </p:nvSpPr>
          <p:spPr>
            <a:xfrm>
              <a:off x="0" y="0"/>
              <a:ext cx="2676144" cy="60959"/>
            </a:xfrm>
            <a:custGeom>
              <a:avLst/>
              <a:gdLst/>
              <a:ahLst/>
              <a:cxnLst/>
              <a:rect l="0" t="0" r="0" b="0"/>
              <a:pathLst>
                <a:path w="4214" h="95">
                  <a:moveTo>
                    <a:pt x="9" y="86"/>
                  </a:moveTo>
                  <a:lnTo>
                    <a:pt x="4204" y="86"/>
                  </a:lnTo>
                  <a:lnTo>
                    <a:pt x="4204" y="9"/>
                  </a:lnTo>
                  <a:lnTo>
                    <a:pt x="9" y="9"/>
                  </a:lnTo>
                  <a:lnTo>
                    <a:pt x="9" y="86"/>
                  </a:lnTo>
                  <a:close/>
                </a:path>
              </a:pathLst>
            </a:custGeom>
            <a:noFill/>
            <a:ln w="12192" cap="flat">
              <a:solidFill>
                <a:srgbClr val="C8960C"/>
              </a:solidFill>
              <a:prstDash val="solid"/>
              <a:round/>
            </a:ln>
          </p:spPr>
          <p:txBody>
            <a:bodyPr rtlCol="0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013"/>
            </a:p>
          </p:txBody>
        </p:sp>
      </p:grpSp>
    </p:spTree>
    <p:extLst>
      <p:ext uri="{BB962C8B-B14F-4D97-AF65-F5344CB8AC3E}">
        <p14:creationId xmlns:p14="http://schemas.microsoft.com/office/powerpoint/2010/main" val="415555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3925119" y="1586954"/>
            <a:ext cx="2966517" cy="215354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4010174" y="1629445"/>
            <a:ext cx="3253606" cy="13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850"/>
              <a:buFont typeface="Open Sans"/>
              <a:buNone/>
            </a:pPr>
            <a:r>
              <a:rPr lang="en-US" sz="8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IIT GUWAHATI · B.SC. (HONOURS) DATA SCIENCE &amp; AI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925119" y="1859012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750"/>
              <a:buFont typeface="Instrument Sans Medium"/>
              <a:buNone/>
            </a:pPr>
            <a:r>
              <a:rPr lang="en-US" sz="2750" b="0" i="0" u="none" strike="noStrike" cap="none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AirSense-AI</a:t>
            </a:r>
            <a:endParaRPr sz="2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925119" y="2358703"/>
            <a:ext cx="4722763" cy="5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50"/>
              <a:buFont typeface="Instrument Sans Medium"/>
              <a:buNone/>
            </a:pPr>
            <a:r>
              <a:rPr lang="en-US" sz="16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Machine Learning-Based Air Quality Prediction &amp; Historical AQI Analysis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925119" y="3102918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Open Sans"/>
              <a:buNone/>
            </a:pPr>
            <a:r>
              <a:rPr lang="en-US" sz="1100" b="1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Presented by:</a:t>
            </a:r>
            <a:r>
              <a:rPr lang="en-US" sz="11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Anirudh S  </a:t>
            </a:r>
            <a:endParaRPr lang="en-US" sz="1100" b="0" i="0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496119" y="408905"/>
            <a:ext cx="8151763" cy="394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50"/>
              <a:buFont typeface="Instrument Sans Medium"/>
              <a:buNone/>
            </a:pPr>
            <a:r>
              <a:rPr lang="en-US" sz="24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Agenda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96119" y="1028328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Instrument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96119" y="1228576"/>
            <a:ext cx="4019624" cy="14288"/>
          </a:xfrm>
          <a:prstGeom prst="rect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96119" y="1320254"/>
            <a:ext cx="4019624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Instrument Sans Medium"/>
              <a:buNone/>
            </a:pPr>
            <a:r>
              <a:rPr lang="en-US" sz="12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Introduction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96119" y="1584945"/>
            <a:ext cx="401962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Understanding Air Quality and AQI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4628183" y="1028328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Instrument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02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628183" y="1228576"/>
            <a:ext cx="4019699" cy="14288"/>
          </a:xfrm>
          <a:prstGeom prst="rect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628183" y="1320254"/>
            <a:ext cx="4019699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Instrument Sans Medium"/>
              <a:buNone/>
            </a:pPr>
            <a:r>
              <a:rPr lang="en-US" sz="12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Problem Statement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628183" y="1584945"/>
            <a:ext cx="4019699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Challenges in Air Quality Prediction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96119" y="1982986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Instrument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96119" y="2183234"/>
            <a:ext cx="4019624" cy="14288"/>
          </a:xfrm>
          <a:prstGeom prst="rect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96119" y="2274912"/>
            <a:ext cx="4019624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Instrument Sans Medium"/>
              <a:buNone/>
            </a:pPr>
            <a:r>
              <a:rPr lang="en-US" sz="12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Project Objectives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96119" y="2539603"/>
            <a:ext cx="401962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Open Sans"/>
              <a:buNone/>
            </a:pPr>
            <a:r>
              <a:rPr lang="en-US" sz="9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Goals of AirSense-AI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628183" y="1982986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Instrument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04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628183" y="2183234"/>
            <a:ext cx="4019699" cy="14288"/>
          </a:xfrm>
          <a:prstGeom prst="rect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628183" y="2274912"/>
            <a:ext cx="4019699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Instrument Sans Medium"/>
              <a:buNone/>
            </a:pPr>
            <a:r>
              <a:rPr lang="en-US" sz="12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Dataset &amp; Technology Stack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628183" y="2539603"/>
            <a:ext cx="4019699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Tools, Libraries, and Historical Dataset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96119" y="2937644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Instrument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05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96119" y="3137892"/>
            <a:ext cx="4019624" cy="14288"/>
          </a:xfrm>
          <a:prstGeom prst="rect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96119" y="3229570"/>
            <a:ext cx="4019624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Instrument Sans Medium"/>
              <a:buNone/>
            </a:pPr>
            <a:r>
              <a:rPr lang="en-US" sz="12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Machine Learning Pipeline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96119" y="3494261"/>
            <a:ext cx="401962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Data Preprocessing and Model Training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628183" y="2937644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Instrument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628183" y="3137892"/>
            <a:ext cx="4019699" cy="14288"/>
          </a:xfrm>
          <a:prstGeom prst="rect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628183" y="3229570"/>
            <a:ext cx="4019699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Instrument Sans Medium"/>
              <a:buNone/>
            </a:pPr>
            <a:r>
              <a:rPr lang="en-US" sz="12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AQI Prediction System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628183" y="3494261"/>
            <a:ext cx="4019699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Open Sans"/>
              <a:buNone/>
            </a:pPr>
            <a:r>
              <a:rPr lang="en-US" sz="9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How AirSense-AI Predicts AQI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96119" y="3892302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Instrument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07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96119" y="4092550"/>
            <a:ext cx="4019624" cy="14288"/>
          </a:xfrm>
          <a:prstGeom prst="rect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96119" y="4184228"/>
            <a:ext cx="4019624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Instrument Sans Medium"/>
              <a:buNone/>
            </a:pPr>
            <a:r>
              <a:rPr lang="en-US" sz="12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Results &amp; Dashboard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96119" y="4448919"/>
            <a:ext cx="4019624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Open Sans"/>
              <a:buNone/>
            </a:pPr>
            <a:r>
              <a:rPr lang="en-US" sz="9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Model Performance and Streamlit Application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628183" y="3892302"/>
            <a:ext cx="252487" cy="15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Instrument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08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628183" y="4092550"/>
            <a:ext cx="4019699" cy="14288"/>
          </a:xfrm>
          <a:prstGeom prst="rect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628183" y="4184228"/>
            <a:ext cx="4019699" cy="197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200"/>
              <a:buFont typeface="Instrument Sans Medium"/>
              <a:buNone/>
            </a:pPr>
            <a:r>
              <a:rPr lang="en-US" sz="12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Conclusion &amp; Future Scope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628183" y="4448919"/>
            <a:ext cx="4019699" cy="19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50"/>
              <a:buFont typeface="Open Sans"/>
              <a:buNone/>
            </a:pPr>
            <a:r>
              <a:rPr lang="en-US" sz="9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Project Outcomes and Improvements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/>
          <p:nvPr/>
        </p:nvSpPr>
        <p:spPr>
          <a:xfrm>
            <a:off x="3925119" y="396925"/>
            <a:ext cx="4722763" cy="70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200"/>
              <a:buFont typeface="Instrument Sans Medium"/>
              <a:buNone/>
            </a:pPr>
            <a:r>
              <a:rPr lang="en-US" sz="22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The Importance of Air Quality Monitoring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5119" y="1237804"/>
            <a:ext cx="4722763" cy="8096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4109517" y="1365052"/>
            <a:ext cx="4411117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Instrument Sans Medium"/>
              <a:buNone/>
            </a:pPr>
            <a:r>
              <a:rPr lang="en-US" sz="11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Air Pollution &amp; Public Health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109517" y="1595512"/>
            <a:ext cx="4411117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850"/>
              <a:buFont typeface="Open Sans"/>
              <a:buNone/>
            </a:pPr>
            <a:r>
              <a:rPr lang="en-US" sz="8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Air pollution is one of the leading environmental challenges affecting millions worldwide, with direct links to respiratory and cardiovascular disease.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5119" y="2137470"/>
            <a:ext cx="4722763" cy="8096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/>
          <p:nvPr/>
        </p:nvSpPr>
        <p:spPr>
          <a:xfrm>
            <a:off x="4109517" y="2264718"/>
            <a:ext cx="4411117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Instrument Sans Medium"/>
              <a:buNone/>
            </a:pPr>
            <a:r>
              <a:rPr lang="en-US" sz="11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Air Quality Index (AQI)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109517" y="2495178"/>
            <a:ext cx="4411117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850"/>
              <a:buFont typeface="Open Sans"/>
              <a:buNone/>
            </a:pPr>
            <a:r>
              <a:rPr lang="en-US" sz="8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AQI is a standardized measure indicating pollution levels based on multiple atmospheric pollutants — a single number that communicates complex data.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5119" y="3037136"/>
            <a:ext cx="4722763" cy="8096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/>
          <p:nvPr/>
        </p:nvSpPr>
        <p:spPr>
          <a:xfrm>
            <a:off x="4109517" y="3164384"/>
            <a:ext cx="4411117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Instrument Sans Medium"/>
              <a:buNone/>
            </a:pPr>
            <a:r>
              <a:rPr lang="en-US" sz="11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Why AQI Prediction Matters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109517" y="3394844"/>
            <a:ext cx="4411117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850"/>
              <a:buFont typeface="Open Sans"/>
              <a:buNone/>
            </a:pPr>
            <a:r>
              <a:rPr lang="en-US" sz="8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Supports environmental awareness, helps citizens understand pollution levels, and assists authorities in monitoring urban air quality.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5119" y="3936802"/>
            <a:ext cx="4722763" cy="8096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4109517" y="4064050"/>
            <a:ext cx="4411117" cy="17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Instrument Sans Medium"/>
              <a:buNone/>
            </a:pPr>
            <a:r>
              <a:rPr lang="en-US" sz="110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Project Goal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109517" y="4294510"/>
            <a:ext cx="4411117" cy="32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850"/>
              <a:buFont typeface="Open Sans"/>
              <a:buNone/>
            </a:pPr>
            <a:r>
              <a:rPr lang="en-US" sz="8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Develop an intelligent ML application to predict AQI and visualize historical pollution trends for major Indian cities.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496119" y="406747"/>
            <a:ext cx="8151763" cy="36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300"/>
              <a:buFont typeface="Instrument Sans Medium"/>
              <a:buNone/>
            </a:pPr>
            <a:r>
              <a:rPr lang="en-US" sz="23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Challenges in Air Quality Prediction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365945"/>
            <a:ext cx="5198418" cy="29241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/>
          <p:nvPr/>
        </p:nvSpPr>
        <p:spPr>
          <a:xfrm>
            <a:off x="5985644" y="1016571"/>
            <a:ext cx="2666926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150"/>
              <a:buFont typeface="Instrument Sans Medium"/>
              <a:buNone/>
            </a:pPr>
            <a:r>
              <a:rPr lang="en-US" sz="11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Multiple Pollutants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985644" y="1297186"/>
            <a:ext cx="2666926" cy="51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AQI depends on several pollutants including PM2.5, PM10, CO, NO₂, SO₂, and O₃ — each contributing differently to the overall index.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985644" y="1909390"/>
            <a:ext cx="2666926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150"/>
              <a:buFont typeface="Instrument Sans Medium"/>
              <a:buNone/>
            </a:pPr>
            <a:r>
              <a:rPr lang="en-US" sz="11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Complex Relationships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985644" y="2190006"/>
            <a:ext cx="2666926" cy="515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The contribution of each pollutant varies, making manual estimation difficult and error-prone.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985644" y="2802210"/>
            <a:ext cx="2666926" cy="18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150"/>
              <a:buFont typeface="Instrument Sans Medium"/>
              <a:buNone/>
            </a:pPr>
            <a:r>
              <a:rPr lang="en-US" sz="11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Historical Data Analysis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985644" y="3082826"/>
            <a:ext cx="2666926" cy="343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900"/>
              <a:buFont typeface="Open Sans"/>
              <a:buNone/>
            </a:pPr>
            <a:r>
              <a:rPr lang="en-US" sz="9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Large volumes of air quality data require automated analysis and visualization.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985644" y="3535487"/>
            <a:ext cx="2666926" cy="1091878"/>
          </a:xfrm>
          <a:prstGeom prst="roundRect">
            <a:avLst>
              <a:gd name="adj" fmla="val 1613"/>
            </a:avLst>
          </a:prstGeom>
          <a:solidFill>
            <a:srgbClr val="7979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2995" y="3708053"/>
            <a:ext cx="146745" cy="1173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7"/>
          <p:cNvSpPr/>
          <p:nvPr/>
        </p:nvSpPr>
        <p:spPr>
          <a:xfrm>
            <a:off x="6367090" y="3652242"/>
            <a:ext cx="2168128" cy="85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Proposed Solution:</a:t>
            </a:r>
            <a:r>
              <a:rPr lang="en-U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 machine learning system that predicts AQI from pollutant values while providing historical city-wise comparisons through an interactive dashboard.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496119" y="394841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700"/>
              <a:buFont typeface="Instrument Sans Medium"/>
              <a:buNone/>
            </a:pPr>
            <a:r>
              <a:rPr lang="en-US" sz="2700" b="0" i="0" u="none" strike="noStrike" cap="none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Objectives of AirSense-AI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96119" y="1090017"/>
            <a:ext cx="4009355" cy="1762795"/>
          </a:xfrm>
          <a:prstGeom prst="roundRect">
            <a:avLst>
              <a:gd name="adj" fmla="val 1169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633413" y="1227311"/>
            <a:ext cx="411956" cy="411956"/>
          </a:xfrm>
          <a:prstGeom prst="ellipse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671" y="1340569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/>
          <p:nvPr/>
        </p:nvSpPr>
        <p:spPr>
          <a:xfrm>
            <a:off x="633413" y="1772245"/>
            <a:ext cx="3734767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Historical Data Analysis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33413" y="2066553"/>
            <a:ext cx="3734767" cy="6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Analyze AQI data from four Indian metropolitan cities — Delhi, Mumbai, Chennai, and Kolkata — collected during 2025.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638452" y="1090017"/>
            <a:ext cx="4009430" cy="1762795"/>
          </a:xfrm>
          <a:prstGeom prst="roundRect">
            <a:avLst>
              <a:gd name="adj" fmla="val 1169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4775746" y="1227311"/>
            <a:ext cx="411956" cy="411956"/>
          </a:xfrm>
          <a:prstGeom prst="ellipse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9004" y="1340569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4775746" y="1772245"/>
            <a:ext cx="3734842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Machine Learning Prediction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775746" y="2066553"/>
            <a:ext cx="3734842" cy="43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Train regression models capable of accurately predicting AQI from pollutant concentration inputs.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96119" y="2985790"/>
            <a:ext cx="4009355" cy="1762795"/>
          </a:xfrm>
          <a:prstGeom prst="roundRect">
            <a:avLst>
              <a:gd name="adj" fmla="val 1169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633413" y="3123084"/>
            <a:ext cx="411956" cy="411956"/>
          </a:xfrm>
          <a:prstGeom prst="ellipse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6671" y="3236342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/>
          <p:nvPr/>
        </p:nvSpPr>
        <p:spPr>
          <a:xfrm>
            <a:off x="633413" y="3668018"/>
            <a:ext cx="3734767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Model Comparison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33413" y="3962326"/>
            <a:ext cx="3734767" cy="6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r>
              <a:rPr lang="en-US" sz="10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Evaluate multiple ML algorithms — Linear Regression, Random Forest, XGBoost — to identify the best-performing model.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638452" y="2985790"/>
            <a:ext cx="4009430" cy="1762795"/>
          </a:xfrm>
          <a:prstGeom prst="roundRect">
            <a:avLst>
              <a:gd name="adj" fmla="val 1169"/>
            </a:avLst>
          </a:prstGeom>
          <a:solidFill>
            <a:srgbClr val="3E3E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4775746" y="3123084"/>
            <a:ext cx="411956" cy="411956"/>
          </a:xfrm>
          <a:prstGeom prst="ellipse">
            <a:avLst/>
          </a:prstGeom>
          <a:solidFill>
            <a:srgbClr val="F5F5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89004" y="3236342"/>
            <a:ext cx="185365" cy="185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4775746" y="3668018"/>
            <a:ext cx="3734842" cy="21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Interactive Dashboard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775746" y="3962326"/>
            <a:ext cx="3734842" cy="64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r>
              <a:rPr lang="en-US" sz="10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Build a Streamlit app featuring AQI prediction, historical analysis, city comparison, pollutant trends, and health advisory.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/>
          <p:nvPr/>
        </p:nvSpPr>
        <p:spPr>
          <a:xfrm>
            <a:off x="496119" y="350033"/>
            <a:ext cx="8151763" cy="22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Instrument Sans Medium"/>
              <a:buNone/>
            </a:pPr>
            <a:r>
              <a:rPr lang="en-US" sz="20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Dataset &amp; Technology Stack</a:t>
            </a:r>
            <a:endParaRPr lang="en-US"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96119" y="1109672"/>
            <a:ext cx="3981290" cy="35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700"/>
              <a:buFont typeface="Instrument Sans Medium"/>
              <a:buNone/>
            </a:pPr>
            <a:r>
              <a:rPr lang="en-US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Historical AQI Dataset (2025)</a:t>
            </a:r>
            <a:endParaRPr lang="en-US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90676" y="1593566"/>
            <a:ext cx="398673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550"/>
              <a:buFont typeface="Open Sans"/>
              <a:buNone/>
            </a:pP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Cities: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Delhi, Mumbai, Chennai, Kolkata</a:t>
            </a:r>
            <a:endParaRPr lang="en-US"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1000"/>
              </a:lnSpc>
              <a:spcBef>
                <a:spcPts val="250"/>
              </a:spcBef>
              <a:spcAft>
                <a:spcPts val="0"/>
              </a:spcAft>
              <a:buClr>
                <a:srgbClr val="BFBFBF"/>
              </a:buClr>
              <a:buSzPts val="550"/>
              <a:buFont typeface="Open Sans"/>
              <a:buNone/>
            </a:pP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Input Features: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PM2.5, PM10, CO, NO₂, SO₂, O₃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1000"/>
              </a:lnSpc>
              <a:spcBef>
                <a:spcPts val="250"/>
              </a:spcBef>
              <a:spcAft>
                <a:spcPts val="0"/>
              </a:spcAft>
              <a:buClr>
                <a:srgbClr val="BFBFBF"/>
              </a:buClr>
              <a:buSzPts val="550"/>
              <a:buFont typeface="Open Sans"/>
              <a:buNone/>
            </a:pP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Target Variable: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Air Quality Index (AQI)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90676" y="2482814"/>
            <a:ext cx="3986733" cy="9525"/>
          </a:xfrm>
          <a:prstGeom prst="roundRect">
            <a:avLst>
              <a:gd name="adj" fmla="val 60000"/>
            </a:avLst>
          </a:prstGeom>
          <a:solidFill>
            <a:srgbClr val="BFBFBF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490677" y="2710755"/>
            <a:ext cx="3986733" cy="26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700"/>
              <a:buFont typeface="Instrument Sans Medium"/>
              <a:buNone/>
            </a:pPr>
            <a:r>
              <a:rPr lang="en-US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Technology Stack</a:t>
            </a:r>
            <a:endParaRPr lang="en-US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96118" y="3080349"/>
            <a:ext cx="3975849" cy="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760" marR="0" lvl="0" indent="-11176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550"/>
              <a:buFont typeface="Open Sans"/>
              <a:buChar char="•"/>
            </a:pP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Language: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Python</a:t>
            </a:r>
            <a:endParaRPr lang="en-US"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1760" marR="0" lvl="0" indent="-11176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550"/>
              <a:buFont typeface="Open Sans"/>
              <a:buChar char="•"/>
            </a:pPr>
            <a:r>
              <a:rPr lang="en-US" sz="1000" b="1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ML Libraries:</a:t>
            </a:r>
            <a:r>
              <a:rPr lang="en-US" sz="100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Pandas, NumPy, Scikit-learn, XGBoost, Joblib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1760" marR="0" lvl="0" indent="-11176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550"/>
              <a:buFont typeface="Open Sans"/>
              <a:buChar char="•"/>
            </a:pPr>
            <a:r>
              <a:rPr lang="en-US" sz="1000" b="1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Visualization:</a:t>
            </a:r>
            <a:r>
              <a:rPr lang="en-US" sz="100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Plotly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1760" marR="0" lvl="0" indent="-11176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550"/>
              <a:buFont typeface="Open Sans"/>
              <a:buChar char="•"/>
            </a:pPr>
            <a:r>
              <a:rPr lang="en-US" sz="1000" b="1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Web App:</a:t>
            </a:r>
            <a:r>
              <a:rPr lang="en-US" sz="100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Streamlit, Streamlit Option Menu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111760" marR="0" lvl="0" indent="-11176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550"/>
              <a:buFont typeface="Open Sans"/>
              <a:buChar char="•"/>
            </a:pP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IDE: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Visual Studio Code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5" name="Google Shape;135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5911" y="720849"/>
            <a:ext cx="3986733" cy="3986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/>
          <p:nvPr/>
        </p:nvSpPr>
        <p:spPr>
          <a:xfrm>
            <a:off x="496119" y="450726"/>
            <a:ext cx="8151763" cy="311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950"/>
              <a:buFont typeface="Instrument Sans Medium"/>
              <a:buNone/>
            </a:pPr>
            <a:r>
              <a:rPr lang="en-US" sz="1950" b="0" i="0" u="none" strike="noStrike" cap="none" dirty="0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How AirSense-AI Works</a:t>
            </a:r>
            <a:endParaRPr sz="1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902345"/>
            <a:ext cx="8151763" cy="357581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/>
          <p:nvPr/>
        </p:nvSpPr>
        <p:spPr>
          <a:xfrm>
            <a:off x="2966551" y="3573332"/>
            <a:ext cx="1232034" cy="22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Feature Prep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2966551" y="3856677"/>
            <a:ext cx="1232034" cy="30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Select features and preprocess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880432" y="3202484"/>
            <a:ext cx="1232034" cy="44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Evaluate &amp; Deploy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880432" y="3706426"/>
            <a:ext cx="1232034" cy="45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Open Sans"/>
              <a:buNone/>
            </a:pPr>
            <a:r>
              <a:rPr lang="en-US" sz="110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Compare results and deploy to Streamlit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052751" y="1223730"/>
            <a:ext cx="1232034" cy="22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Load &amp; Clean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052751" y="1507074"/>
            <a:ext cx="1232034" cy="30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Open Sans"/>
              <a:buNone/>
            </a:pPr>
            <a:r>
              <a:rPr lang="en-US" sz="11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Import historical AQI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4950944" y="1223730"/>
            <a:ext cx="1232034" cy="220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Train Models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4950944" y="1507074"/>
            <a:ext cx="1232034" cy="30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100"/>
              <a:buFont typeface="Open Sans"/>
              <a:buNone/>
            </a:pPr>
            <a:r>
              <a:rPr lang="en-US" sz="110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Linear Reg, RF, XGBoost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96119" y="4556968"/>
            <a:ext cx="8608963" cy="135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750"/>
              <a:buFont typeface="Open Sans"/>
              <a:buNone/>
            </a:pPr>
            <a:r>
              <a:rPr lang="en-US" sz="7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The pipeline moves from raw historical data through preprocessing and model training to final deployment — ensuring a reproducible, end-to-end workflow for AQI prediction.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496119" y="396478"/>
            <a:ext cx="8151763" cy="415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600"/>
              <a:buFont typeface="Instrument Sans Medium"/>
              <a:buNone/>
            </a:pPr>
            <a:r>
              <a:rPr lang="en-US" sz="26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AQI Prediction System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414463"/>
            <a:ext cx="5185172" cy="291665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1"/>
          <p:cNvSpPr/>
          <p:nvPr/>
        </p:nvSpPr>
        <p:spPr>
          <a:xfrm>
            <a:off x="6010201" y="1123206"/>
            <a:ext cx="2642369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Instrument Sans Medium"/>
              <a:buNone/>
            </a:pPr>
            <a:r>
              <a:rPr lang="en-US" sz="13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User Inputs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6010201" y="1455465"/>
            <a:ext cx="2642369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Open Sans"/>
              <a:buNone/>
            </a:pPr>
            <a:r>
              <a:rPr lang="en-US" sz="100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Users enter pollutant concentrations — PM2.5, PM10, CO, NO₂, SO₂, O₃ — into the Streamlit interface.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6010201" y="2197968"/>
            <a:ext cx="2642369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Instrument Sans Medium"/>
              <a:buNone/>
            </a:pPr>
            <a:r>
              <a:rPr lang="en-US" sz="13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Machine Learning Model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010201" y="2530227"/>
            <a:ext cx="2642369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Random Forest Regressor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processes inputs and predicts the AQI value in real time.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6010201" y="3272730"/>
            <a:ext cx="2642369" cy="20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Instrument Sans Medium"/>
              <a:buNone/>
            </a:pPr>
            <a:r>
              <a:rPr lang="en-US" sz="13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Application Output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6010201" y="3604989"/>
            <a:ext cx="2642369" cy="102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00"/>
              <a:buFont typeface="Open Sans"/>
              <a:buNone/>
            </a:pP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The dashboard displays the </a:t>
            </a: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Predicted AQI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, its </a:t>
            </a: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AQI Category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(e.g., Good, Moderate, Poor), and a personalized </a:t>
            </a:r>
            <a:r>
              <a:rPr lang="en-US" sz="1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Health Advisory</a:t>
            </a:r>
            <a:r>
              <a:rPr lang="en-US" sz="100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— making air quality insights accessible to all users.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496119" y="392981"/>
            <a:ext cx="8151763" cy="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650"/>
              <a:buFont typeface="Instrument Sans Medium"/>
              <a:buNone/>
            </a:pPr>
            <a:r>
              <a:rPr lang="en-US" sz="265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Model Performance &amp; Key Findings</a:t>
            </a:r>
            <a:endParaRPr sz="2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153344"/>
            <a:ext cx="3911054" cy="281515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/>
          <p:nvPr/>
        </p:nvSpPr>
        <p:spPr>
          <a:xfrm>
            <a:off x="4741590" y="1137196"/>
            <a:ext cx="3911054" cy="21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Instrument Sans Medium"/>
              <a:buNone/>
            </a:pPr>
            <a:r>
              <a:rPr lang="en-US" sz="13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Best Model: Random Forest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741590" y="1477045"/>
            <a:ext cx="3911054" cy="63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r>
              <a:rPr lang="en-US" sz="10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Random Forest achieved the </a:t>
            </a:r>
            <a:r>
              <a:rPr lang="en-US" sz="1050" b="1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lowest prediction error</a:t>
            </a:r>
            <a:r>
              <a:rPr lang="en-US" sz="10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(RMSE: </a:t>
            </a:r>
            <a:r>
              <a:rPr lang="en-US" sz="1050" b="1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7.91</a:t>
            </a:r>
            <a:r>
              <a:rPr lang="en-US" sz="10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) and the </a:t>
            </a:r>
            <a:r>
              <a:rPr lang="en-US" sz="1050" b="1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highest accuracy</a:t>
            </a:r>
            <a:r>
              <a:rPr lang="en-US" sz="10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(R²: </a:t>
            </a:r>
            <a:r>
              <a:rPr lang="en-US" sz="1050" b="1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0.9936</a:t>
            </a:r>
            <a:r>
              <a:rPr lang="en-US" sz="10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), significantly outperforming both Linear Regression and XGBoost.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741590" y="2239119"/>
            <a:ext cx="3911054" cy="21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Instrument Sans Medium"/>
              <a:buNone/>
            </a:pPr>
            <a:r>
              <a:rPr lang="en-US" sz="13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Top Feature Importance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741590" y="2578968"/>
            <a:ext cx="3911054" cy="42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PM2.5, PM10, and O₃ were the most influential pollutants driving AQI predictions in the trained model.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4741590" y="3129930"/>
            <a:ext cx="3911054" cy="21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300"/>
              <a:buFont typeface="Instrument Sans Medium"/>
              <a:buNone/>
            </a:pPr>
            <a:r>
              <a:rPr lang="en-US" sz="13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Dashboard Features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4741590" y="3469779"/>
            <a:ext cx="3911054" cy="1235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AQI Prediction &amp; Category Display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Historical AQI Analysis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City-wise AQI Comparison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Pollutant Trend Visualization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Health Advisory Recommendations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/>
          <p:nvPr/>
        </p:nvSpPr>
        <p:spPr>
          <a:xfrm>
            <a:off x="496119" y="413891"/>
            <a:ext cx="8151763" cy="43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700"/>
              <a:buFont typeface="Instrument Sans Medium"/>
              <a:buNone/>
            </a:pPr>
            <a:r>
              <a:rPr lang="en-US" sz="27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Conclusion &amp; Future Scope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581894"/>
            <a:ext cx="4007197" cy="209051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/>
          <p:nvPr/>
        </p:nvSpPr>
        <p:spPr>
          <a:xfrm>
            <a:off x="692795" y="1756800"/>
            <a:ext cx="3613845" cy="21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Project Outcomes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692795" y="2166066"/>
            <a:ext cx="3613845" cy="11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r>
              <a:rPr lang="en-US" sz="105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Successfully developed an ML-based AQI prediction system, compared three models, and deployed an interactive Streamlit dashboard for prediction, historical analysis, city comparison, and health advisory.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6127" y="1581894"/>
            <a:ext cx="4007197" cy="209051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3"/>
          <p:cNvSpPr/>
          <p:nvPr/>
        </p:nvSpPr>
        <p:spPr>
          <a:xfrm>
            <a:off x="4842804" y="1756800"/>
            <a:ext cx="3613845" cy="21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350"/>
              <a:buFont typeface="Instrument Sans Medium"/>
              <a:buNone/>
            </a:pPr>
            <a:r>
              <a:rPr lang="en-US" sz="1350" b="0" i="0" u="none" strike="noStrike" cap="none">
                <a:solidFill>
                  <a:srgbClr val="BFBFBF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Future Scope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4842804" y="2166066"/>
            <a:ext cx="3613845" cy="147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Integrate real-time AQI data via public APIs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Expand dataset to more cities and years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Incorporate meteorological variables (temperature, humidity)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3360" marR="0" lvl="0" indent="-21336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r>
              <a:rPr lang="en-US" sz="1050" b="0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Explore deep learning and time-series forecasting models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B387A8FA-B370-1ADF-D09B-E692EF0E9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>
            <a:extLst>
              <a:ext uri="{FF2B5EF4-FFF2-40B4-BE49-F238E27FC236}">
                <a16:creationId xmlns:a16="http://schemas.microsoft.com/office/drawing/2014/main" id="{751ECB60-F9F9-07A7-52E7-CF05FC1DD59D}"/>
              </a:ext>
            </a:extLst>
          </p:cNvPr>
          <p:cNvSpPr/>
          <p:nvPr/>
        </p:nvSpPr>
        <p:spPr>
          <a:xfrm>
            <a:off x="730895" y="1583680"/>
            <a:ext cx="3613845" cy="11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endParaRPr lang="en-US" sz="1050" b="0" i="0" u="none" strike="noStrike" cap="none" dirty="0">
              <a:solidFill>
                <a:srgbClr val="BFBFB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8" name="Google Shape;188;p13">
            <a:extLst>
              <a:ext uri="{FF2B5EF4-FFF2-40B4-BE49-F238E27FC236}">
                <a16:creationId xmlns:a16="http://schemas.microsoft.com/office/drawing/2014/main" id="{0A461488-4F7D-327D-04DD-00C6E8A24990}"/>
              </a:ext>
            </a:extLst>
          </p:cNvPr>
          <p:cNvSpPr/>
          <p:nvPr/>
        </p:nvSpPr>
        <p:spPr>
          <a:xfrm>
            <a:off x="4875461" y="1283271"/>
            <a:ext cx="3613845" cy="21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350"/>
              <a:buFont typeface="Instrument Sans Medium"/>
              <a:buNone/>
            </a:pPr>
            <a:endParaRPr lang="en-US" sz="1350" b="0" i="0" u="none" strike="noStrike" cap="none" dirty="0">
              <a:solidFill>
                <a:srgbClr val="BFBFBF"/>
              </a:solidFill>
              <a:latin typeface="Instrument Sans Medium"/>
              <a:ea typeface="Calibri"/>
              <a:cs typeface="Calibri"/>
            </a:endParaRPr>
          </a:p>
        </p:txBody>
      </p:sp>
      <p:sp>
        <p:nvSpPr>
          <p:cNvPr id="189" name="Google Shape;189;p13">
            <a:extLst>
              <a:ext uri="{FF2B5EF4-FFF2-40B4-BE49-F238E27FC236}">
                <a16:creationId xmlns:a16="http://schemas.microsoft.com/office/drawing/2014/main" id="{5D70B13F-A620-C269-556E-0C858E1633C2}"/>
              </a:ext>
            </a:extLst>
          </p:cNvPr>
          <p:cNvSpPr/>
          <p:nvPr/>
        </p:nvSpPr>
        <p:spPr>
          <a:xfrm>
            <a:off x="4875461" y="1583680"/>
            <a:ext cx="3613845" cy="147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3360" marR="0" lvl="0" indent="-21336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Char char="•"/>
            </a:pPr>
            <a:endParaRPr lang="en-US" sz="1050" b="0" i="0" u="none" strike="noStrike" cap="none" dirty="0">
              <a:solidFill>
                <a:srgbClr val="BFBFB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1" name="Google Shape;191;p13">
            <a:extLst>
              <a:ext uri="{FF2B5EF4-FFF2-40B4-BE49-F238E27FC236}">
                <a16:creationId xmlns:a16="http://schemas.microsoft.com/office/drawing/2014/main" id="{1167973E-3649-F7C0-AD0C-7CD90705296A}"/>
              </a:ext>
            </a:extLst>
          </p:cNvPr>
          <p:cNvSpPr/>
          <p:nvPr/>
        </p:nvSpPr>
        <p:spPr>
          <a:xfrm>
            <a:off x="3250204" y="1503631"/>
            <a:ext cx="2872191" cy="550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Instrument Sans Medium"/>
              <a:buNone/>
            </a:pPr>
            <a:r>
              <a:rPr lang="en-US" sz="3200" b="0" i="0" u="none" strike="noStrike" cap="none">
                <a:solidFill>
                  <a:srgbClr val="FEFEFE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Thank You</a:t>
            </a:r>
            <a:endParaRPr lang="en-US"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2" name="Google Shape;192;p13">
            <a:extLst>
              <a:ext uri="{FF2B5EF4-FFF2-40B4-BE49-F238E27FC236}">
                <a16:creationId xmlns:a16="http://schemas.microsoft.com/office/drawing/2014/main" id="{ADB53027-3A25-36A4-57E3-8FBCBC915D6F}"/>
              </a:ext>
            </a:extLst>
          </p:cNvPr>
          <p:cNvSpPr/>
          <p:nvPr/>
        </p:nvSpPr>
        <p:spPr>
          <a:xfrm>
            <a:off x="3652976" y="2335996"/>
            <a:ext cx="1652993" cy="4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050"/>
              <a:buFont typeface="Open Sans"/>
              <a:buNone/>
            </a:pPr>
            <a:r>
              <a:rPr lang="en-US" sz="2000" b="1" i="0" u="none" strike="noStrike" cap="non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Anirudh S</a:t>
            </a:r>
            <a:r>
              <a:rPr lang="en-US" sz="2000" b="0" i="0" u="none" strike="noStrike" cap="none" dirty="0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lang="en-US" sz="2000" dirty="0">
              <a:solidFill>
                <a:srgbClr val="BFBFB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4611F-3ED3-6844-6838-ED6628C15577}"/>
              </a:ext>
            </a:extLst>
          </p:cNvPr>
          <p:cNvSpPr txBox="1"/>
          <p:nvPr/>
        </p:nvSpPr>
        <p:spPr>
          <a:xfrm>
            <a:off x="2477992" y="3164801"/>
            <a:ext cx="420127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>
                <a:solidFill>
                  <a:srgbClr val="BFBFBF"/>
                </a:solidFill>
              </a:rPr>
              <a:t>https://github.com/an1rudhks/AirSense-AI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83948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98</cp:revision>
  <dcterms:modified xsi:type="dcterms:W3CDTF">2026-07-26T10:57:44Z</dcterms:modified>
</cp:coreProperties>
</file>